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7600" y="200880"/>
            <a:ext cx="4593600" cy="3173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63640" y="0"/>
            <a:ext cx="37803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341000"/>
            <a:ext cx="6575760" cy="162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7600" y="251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720000" y="132660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720000" y="294732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883400" y="132660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883400" y="2947320"/>
            <a:ext cx="7344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1316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6000" y="1046160"/>
            <a:ext cx="7674840" cy="92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27600" y="209160"/>
            <a:ext cx="466956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291720" y="324360"/>
            <a:ext cx="2401920" cy="91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9320" y="207000"/>
            <a:ext cx="2209320" cy="319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29320" y="3601800"/>
            <a:ext cx="2209320" cy="154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607120" y="1506240"/>
            <a:ext cx="2367720" cy="252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2607120" y="-36360"/>
            <a:ext cx="2367720" cy="14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body"/>
          </p:nvPr>
        </p:nvSpPr>
        <p:spPr>
          <a:xfrm>
            <a:off x="2607120" y="4163760"/>
            <a:ext cx="2367720" cy="97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1316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340128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6089400" y="3049560"/>
            <a:ext cx="234108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6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713160" y="900360"/>
            <a:ext cx="5251680" cy="107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4930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3636000" y="2769120"/>
            <a:ext cx="4794480" cy="18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3636000" y="290520"/>
            <a:ext cx="1366920" cy="63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27600" y="240480"/>
            <a:ext cx="55393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Google Shape;104;p21"/>
          <p:cNvSpPr/>
          <p:nvPr/>
        </p:nvSpPr>
        <p:spPr>
          <a:xfrm>
            <a:off x="4447440" y="3757680"/>
            <a:ext cx="399888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0000" y="990360"/>
            <a:ext cx="7703640" cy="36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7600" y="2628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7600" y="2530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11800" y="878760"/>
            <a:ext cx="363672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643720" y="539640"/>
            <a:ext cx="27867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1948680" y="4014360"/>
            <a:ext cx="5245920" cy="441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1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1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122;p28"/>
          <p:cNvCxnSpPr/>
          <p:nvPr/>
        </p:nvCxnSpPr>
        <p:spPr>
          <a:xfrm>
            <a:off x="-5040" y="412668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pic>
        <p:nvPicPr>
          <p:cNvPr id="49" name="Google Shape;123;p28"/>
          <p:cNvPicPr/>
          <p:nvPr/>
        </p:nvPicPr>
        <p:blipFill>
          <a:blip r:embed="rId2"/>
          <a:srcRect l="13314" r="37692"/>
          <a:stretch/>
        </p:blipFill>
        <p:spPr>
          <a:xfrm>
            <a:off x="5363640" y="0"/>
            <a:ext cx="378036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4000" y="200160"/>
            <a:ext cx="4590720" cy="317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600" dirty="0">
                <a:solidFill>
                  <a:schemeClr val="dk1"/>
                </a:solidFill>
                <a:latin typeface="Manrope"/>
              </a:rPr>
              <a:t>E-Engineering Food Commerce &amp; Health</a:t>
            </a:r>
            <a:endParaRPr lang="fr-FR" sz="4600" dirty="0">
              <a:solidFill>
                <a:schemeClr val="dk1"/>
              </a:solidFill>
              <a:latin typeface="Manrop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90880" y="3027668"/>
            <a:ext cx="4590720" cy="9527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r>
              <a:rPr lang="en-US" sz="4000" dirty="0"/>
              <a:t>E-Engineering</a:t>
            </a:r>
            <a:r>
              <a:rPr lang="en-US" sz="4000" i="1" dirty="0"/>
              <a:t> Food Commerce &amp; Health</a:t>
            </a:r>
            <a:r>
              <a:rPr lang="en-US" sz="4000" dirty="0"/>
              <a:t> delivers real-time food-safety and OTC controls embedded within e-commerce platforms and logistics networks. Enforcing automated validation of labeling, allergens, and expiration data at the point of listing and shipment.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Integrated traceability and inventory reconciliation enable rapid detection and remediation of discrepancies, ensuring </a:t>
            </a:r>
            <a:r>
              <a:rPr lang="en-US" sz="4000" b="1" dirty="0"/>
              <a:t>regulatory alignment</a:t>
            </a:r>
            <a:r>
              <a:rPr lang="en-US" sz="4000" dirty="0"/>
              <a:t> and reduced consumer 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157;p31"/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E-Engineering Food Commerce Health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embeds automated, platform-level compliance into online food retail and supply chains.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prototype synchronizes ERP, marketplace APIs, labeling validation, and monitoring to prevent noncompliant products from reaching consumers.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5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165;p32"/>
          <p:cNvCxnSpPr/>
          <p:nvPr/>
        </p:nvCxnSpPr>
        <p:spPr>
          <a:xfrm>
            <a:off x="-5040" y="2723760"/>
            <a:ext cx="9182160" cy="360"/>
          </a:xfrm>
          <a:prstGeom prst="straightConnector1">
            <a:avLst/>
          </a:prstGeom>
          <a:ln w="9525">
            <a:solidFill>
              <a:srgbClr val="EBE8DE"/>
            </a:solidFill>
            <a:round/>
          </a:ln>
        </p:spPr>
      </p:cxnSp>
      <p:pic>
        <p:nvPicPr>
          <p:cNvPr id="57" name="Google Shape;166;p32"/>
          <p:cNvPicPr/>
          <p:nvPr/>
        </p:nvPicPr>
        <p:blipFill>
          <a:blip r:embed="rId2"/>
          <a:srcRect t="933" b="933"/>
          <a:stretch/>
        </p:blipFill>
        <p:spPr>
          <a:xfrm>
            <a:off x="0" y="0"/>
            <a:ext cx="34930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38520" y="2771640"/>
            <a:ext cx="4790880" cy="183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System Architecture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3638520" y="-2220480"/>
            <a:ext cx="1371240" cy="566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rattere"/>
                <a:ea typeface="Carattere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Data Flow Diagram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Event-driven flows move SKU, lot, and status updates from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ERP → Integration Layer → Marketplaces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with feedback loops for labeling and inventory.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This ensures traceability and rapid detection of inconsistencies before listings publish.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4" name="image69c463bf3f8be" descr="image69c463bf3f8c3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Modular Components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Core modules: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Integration Layer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Compliance Engine, Inventory Reconciler, Labeling Validator, and Dashboard.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Modularity enables phased deployment, vendor-agnostic connectors, and scalable rollouts.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7" name="Google Shape;177;p33"/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Security &amp; Governance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Role-based access, encryption, and immutable audit logs preserve data integrity and evidentiary trails.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Governance enforces change control and supplier access policies for regulatory readiness.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ERP Synchronization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Bi-directional sync maintains accurate SKUs, lot numbers, and expiration dates across channels.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Automated reconciliation reduces inventory drift and misaligned product information.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2" name="Google Shape;177;p33"/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Marketplace Connectors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Prebuilt connectors for Amazon and Shopify normalize schemas and enforce platform rules before publish.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Health checks and throttling protect synchronization and maintain uptime.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5" name="image69c463bf50571" descr="image69c463bf5057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Event-driven APIs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APIs propagate SKU, lot, and status updates instantly across ERP, integration layer, and marketplaces to preserve traceability.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They enable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real-time validation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and automated triggers that block or remediate noncompliant listings before publish, reducing exposure and manual intervention.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Labeling Verification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Automated validation compares labels, nutrition, and claims against regulatory rules and marketplace schemas.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Failures generate tickets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publish blocks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until corrected, ensuring only compliant listings go live and lowering recall risk.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0" name="Google Shape;177;p33"/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Allergen &amp; Expiry Rules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Rule engine enforces allergen declarations and expiration thresholds across SKUs with continuous scans.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Alerts initiate quarantine or relabel workflows and support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preventive containment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to protect consumers.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157;p31"/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Supplier Qualification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Supplier controls verify certificates, audits, and approval status before onboarding or restocking.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Nonconformance triggers restricted sourcing and automated corrective action plans to maintain supply-chain integrity.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6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028880" y="1047600"/>
            <a:ext cx="767664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Real-time Monitoring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028880" y="2295360"/>
            <a:ext cx="5143320" cy="21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Unified dashboards surface compliance exceptions, inventory drift, and marketplace discrepancies with role-based views.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Live alerts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drive priority remediation and SLA-tracked workflows for rapid issue resolution.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9" name="Google Shape;177;p33"/>
          <p:cNvCxnSpPr/>
          <p:nvPr/>
        </p:nvCxnSpPr>
        <p:spPr>
          <a:xfrm>
            <a:off x="-5040" y="201744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Structured Audits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Scheduled and event-driven audits produce immutable trails, compliance scores, and evidence packages for regulators.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Audit outputs inform training, CAPAs, and continuous improvement initiatives.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2" name="image69c463bf64f1f" descr="image69c463bf64f24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Crisis Remediation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Predefined recall playbooks coordinate containment, customer notifications, and regulator filings with traceability 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Rapid root-cause analysis shortens exposure time and accelerates compliant restoration.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157;p31"/>
          <p:cNvCxnSpPr/>
          <p:nvPr/>
        </p:nvCxnSpPr>
        <p:spPr>
          <a:xfrm>
            <a:off x="-5040" y="1311120"/>
            <a:ext cx="9182160" cy="360"/>
          </a:xfrm>
          <a:prstGeom prst="straightConnector1">
            <a:avLst/>
          </a:prstGeom>
          <a:ln w="9525">
            <a:solidFill>
              <a:srgbClr val="2B3D2D"/>
            </a:solidFill>
            <a:round/>
          </a:ln>
        </p:spPr>
      </p:cxn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24000" y="209520"/>
            <a:ext cx="46670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790560" y="1428840"/>
            <a:ext cx="4209840" cy="300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prototype embeds proactive, platform-level controls aligning ERP, marketplaces, and supply chain data to prevent noncompliance before sale.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Recommend a targeted pilot, KPI validation (label errors, remediation time), and phased multichannel scale for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continuous risk reduction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8" name="Google Shape;160;p31"/>
          <p:cNvPicPr/>
          <p:nvPr/>
        </p:nvPicPr>
        <p:blipFill>
          <a:blip r:embed="rId2"/>
          <a:srcRect l="38342" r="11026"/>
          <a:stretch/>
        </p:blipFill>
        <p:spPr>
          <a:xfrm>
            <a:off x="5230800" y="0"/>
            <a:ext cx="3912840" cy="5150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porate Sustainability by Slidesgo">
  <a:themeElements>
    <a:clrScheme name="Simple Light">
      <a:dk1>
        <a:srgbClr val="2B3D2D"/>
      </a:dk1>
      <a:lt1>
        <a:srgbClr val="EBE8DE"/>
      </a:lt1>
      <a:dk2>
        <a:srgbClr val="365F3C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D2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548</Words>
  <Application>Microsoft Office PowerPoint</Application>
  <PresentationFormat>On-screen Show (16:9)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Carattere</vt:lpstr>
      <vt:lpstr>Manrope</vt:lpstr>
      <vt:lpstr>Open Sans</vt:lpstr>
      <vt:lpstr>OpenSymbol</vt:lpstr>
      <vt:lpstr>Symbol</vt:lpstr>
      <vt:lpstr>Wingdings</vt:lpstr>
      <vt:lpstr>Corporate Sustainability by Slidesgo</vt:lpstr>
      <vt:lpstr>Slidesgo Final Pages</vt:lpstr>
      <vt:lpstr>E-Engineering Food Commerce &amp; Health</vt:lpstr>
      <vt:lpstr>Introduction</vt:lpstr>
      <vt:lpstr>System Architecture</vt:lpstr>
      <vt:lpstr>PowerPoint Presentation</vt:lpstr>
      <vt:lpstr>Modular Components</vt:lpstr>
      <vt:lpstr>PowerPoint Presentation</vt:lpstr>
      <vt:lpstr>ERP Synchronization</vt:lpstr>
      <vt:lpstr>PowerPoint Presentation</vt:lpstr>
      <vt:lpstr>PowerPoint Presentation</vt:lpstr>
      <vt:lpstr>Labeling Verification</vt:lpstr>
      <vt:lpstr>PowerPoint Presentation</vt:lpstr>
      <vt:lpstr>Supplier Qualification</vt:lpstr>
      <vt:lpstr>Real-time Monitoring</vt:lpstr>
      <vt:lpstr>PowerPoint Presentation</vt:lpstr>
      <vt:lpstr>PowerPoint Presentation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Hector Espinoza</dc:creator>
  <cp:lastModifiedBy>Hector Espinoza</cp:lastModifiedBy>
  <cp:revision>1</cp:revision>
  <dcterms:modified xsi:type="dcterms:W3CDTF">2026-03-25T22:40:33Z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2026-03-25T22:37:35Z</dcterms:created>
  <dc:creator>Unknown Creator</dc:creator>
  <dc:description/>
  <dc:language>en-US</dc:language>
  <cp:lastModifiedBy>Unknown Creator</cp:lastModifiedBy>
  <dcterms:modified xsi:type="dcterms:W3CDTF">2026-03-25T22:37:35Z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17</vt:r8>
  </property>
</Properties>
</file>